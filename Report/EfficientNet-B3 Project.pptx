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Alegreya Sans SC" charset="1" panose="00000500000000000000"/>
      <p:regular r:id="rId36"/>
    </p:embeddedFont>
    <p:embeddedFont>
      <p:font typeface="Alegreya Sans SC Bold" charset="1" panose="00000800000000000000"/>
      <p:regular r:id="rId37"/>
    </p:embeddedFont>
    <p:embeddedFont>
      <p:font typeface="Aileron" charset="1" panose="00000500000000000000"/>
      <p:regular r:id="rId38"/>
    </p:embeddedFont>
    <p:embeddedFont>
      <p:font typeface="Aileron Bold" charset="1" panose="000008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0980" y="2218001"/>
            <a:ext cx="13968571" cy="51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8"/>
              </a:lnSpc>
            </a:pPr>
            <a:r>
              <a:rPr lang="en-US" sz="325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EfficientNet-B3 Brain Tumor Classification Experiment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0980" y="4194209"/>
            <a:ext cx="9185706" cy="498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9"/>
              </a:lnSpc>
            </a:pPr>
            <a:r>
              <a:rPr lang="en-US" b="true" sz="401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Project Exhibition 1</a:t>
            </a:r>
          </a:p>
          <a:p>
            <a:pPr algn="l" marL="0" indent="0" lvl="0">
              <a:lnSpc>
                <a:spcPts val="4299"/>
              </a:lnSpc>
            </a:pPr>
            <a:r>
              <a:rPr lang="en-US" b="true" sz="401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Supervisor :- Dr. Vikas Panthi Sir</a:t>
            </a:r>
          </a:p>
          <a:p>
            <a:pPr algn="l" marL="0" indent="0" lvl="0">
              <a:lnSpc>
                <a:spcPts val="4299"/>
              </a:lnSpc>
            </a:pPr>
          </a:p>
          <a:p>
            <a:pPr algn="l" marL="0" indent="0" lvl="0">
              <a:lnSpc>
                <a:spcPts val="4299"/>
              </a:lnSpc>
            </a:pPr>
          </a:p>
          <a:p>
            <a:pPr algn="l" marL="0" indent="0" lvl="0">
              <a:lnSpc>
                <a:spcPts val="4299"/>
              </a:lnSpc>
            </a:pPr>
          </a:p>
          <a:p>
            <a:pPr algn="l" marL="0" indent="0" lvl="0">
              <a:lnSpc>
                <a:spcPts val="4299"/>
              </a:lnSpc>
            </a:pPr>
          </a:p>
          <a:p>
            <a:pPr algn="l" marL="0" indent="0" lvl="0">
              <a:lnSpc>
                <a:spcPts val="4299"/>
              </a:lnSpc>
            </a:pPr>
          </a:p>
          <a:p>
            <a:pPr algn="l" marL="0" indent="0" lvl="0">
              <a:lnSpc>
                <a:spcPts val="4299"/>
              </a:lnSpc>
            </a:pPr>
            <a:r>
              <a:rPr lang="en-US" b="true" sz="401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VIT Bhopal University</a:t>
            </a:r>
          </a:p>
          <a:p>
            <a:pPr algn="l" marL="0" indent="0" lvl="0">
              <a:lnSpc>
                <a:spcPts val="4299"/>
              </a:lnSpc>
            </a:pPr>
            <a:r>
              <a:rPr lang="en-US" b="true" sz="401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October 6,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45027"/>
            <a:ext cx="9894900" cy="310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Brain Tumors: Abnormal cell growth in the brain that can critically impact neurological function and overall health.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MRI Imaging: Magnetic Resonance Imaging (MRI) is the primary non-invasive modality used for brain tumor detection and diagnosis.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Deep Learning: Automated deep learning models can classify brain tumor types from MRI images with high accuracy, reducing reliance on manual interpretation.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Project Purpose: Explore EfficientNet-B3 for brain tumor classification to improve accuracy and efficiency over existing baseline models.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97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Does EfficientNet-B3 with an improved classification head perform better than EfficientNet-B1 under the same experimental conditions?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Objective: Conduct a controlled comparison of EfficientNet-B3 vs. EfficientNet-B1 using identical dataset splits, preprocessing, training configuration, and evaluation metrics to isolate the impact of architecture changes.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Existing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53928"/>
            <a:ext cx="4733662" cy="248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EfficientNet-B1 Baseline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Parameters: 6,518,308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Accuracy: 99.20%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Precision: 99.30%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53928"/>
            <a:ext cx="5395153" cy="248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Metrics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Recall: 99.32%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F1: 99.31%</a:t>
            </a:r>
          </a:p>
          <a:p>
            <a:pPr algn="just" marL="0" indent="0" lvl="0">
              <a:lnSpc>
                <a:spcPts val="4962"/>
              </a:lnSpc>
            </a:pPr>
            <a:r>
              <a:rPr lang="en-US" b="true" sz="322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Dataset: BRISC2025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89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4"/>
              </a:lnSpc>
            </a:pPr>
            <a:r>
              <a:rPr lang="en-US" b="true" sz="5649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Existing Work – Limitations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147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Baseline limited to EfficientNet-B1 architecture; larger EfficientNet variants (B2, B3, etc.) have not been explored for this task, leaving potential performance improvements unexamined.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classification head architecture was not enhanced in the baseline; a controlled comparison under identical experimental conditions is needed to isolate the impact of backbone and head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Proposed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82503"/>
            <a:ext cx="4733662" cy="255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Upgrade backbone from EfficientNet-B1 to EfficientNet-B3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Improved classification head with Batch Normalization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Dropout layers for regularization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GELU activation function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82503"/>
            <a:ext cx="5395153" cy="298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Pretrained backbone weights for transfer learning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Total parameters: 11,488,300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Controlled experiments under identical settings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Fair comparison with EfficientNet-B1 baseline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16452"/>
            <a:ext cx="9894900" cy="317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Experimental Process Flow: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Dataset  →  Preprocessing  →  Train/Validation Split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EfficientNet-B3  →  Classification Head  →  Prediction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Evaluation  →  Comparison with EfficientNet-B1 Baseline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53928"/>
            <a:ext cx="4733662" cy="301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Images: 5,000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Glioma: 1,147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Meningioma: 1,329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No Tumor: 1,067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Pituitary: 1,457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53928"/>
            <a:ext cx="5395153" cy="301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Official Test Images: 1,000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Glioma: 254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Meningioma: 306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No Tumor: 140</a:t>
            </a:r>
          </a:p>
          <a:p>
            <a:pPr algn="just" marL="0" indent="0" lvl="0">
              <a:lnSpc>
                <a:spcPts val="4865"/>
              </a:lnSpc>
            </a:pPr>
            <a:r>
              <a:rPr lang="en-US" b="true" sz="31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Pituitary: 300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Dataset Split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65545"/>
            <a:ext cx="10066336" cy="194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Dataset Partitions: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Training: 80% = 4,000 images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Validation: 20% = 1,000 images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Official Test: 1,000 images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Random Seed: 42 (for reproducibility)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79042"/>
            <a:ext cx="10066336" cy="194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Class Label Encoding: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0: Glioma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1: Meningioma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2: No Tumor</a:t>
            </a:r>
          </a:p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3: Pituitary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Novelty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92028"/>
            <a:ext cx="4733662" cy="27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Controlled Comparison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EfficientNet-B3 vs EfficientNet-B1 under identical experimental conditions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Improved Classification Head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Batch Normalization, Dropout, and GELU activation for enhanced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92028"/>
            <a:ext cx="5395153" cy="232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Pretrained Backbone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Transfer learning with pretrained EfficientNet-B3 weights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Architecture-Isolated Evaluation</a:t>
            </a:r>
          </a:p>
          <a:p>
            <a:pPr algn="just" marL="0" indent="0" lvl="0">
              <a:lnSpc>
                <a:spcPts val="3092"/>
              </a:lnSpc>
            </a:pPr>
            <a:r>
              <a:rPr lang="en-US" b="true" sz="200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Controlled setup to isolate impact of backbone and head changes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19389"/>
            <a:ext cx="8531143" cy="122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0"/>
              </a:lnSpc>
            </a:pPr>
            <a:r>
              <a:rPr lang="en-US" b="true" sz="770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Model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64077"/>
            <a:ext cx="9894900" cy="302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Input: MRI Image — 3 × 224 × 224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Backbone: EfficientNet-B3 (Pretrained)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Global Average Pooling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Batch Normalization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Dropout (0.30)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Linear Layer: 1536 → 512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GELU Activation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Dropout (0.20)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Linear Layer: 512 → 4 (Output Classes)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  Output: Four-Class Prediction</a:t>
            </a:r>
          </a:p>
          <a:p>
            <a:pPr algn="ctr" marL="0" indent="0" lvl="0">
              <a:lnSpc>
                <a:spcPts val="2232"/>
              </a:lnSpc>
            </a:pPr>
            <a:r>
              <a:rPr lang="en-US" sz="14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Parameters: 11,488,300  |  Trainable Parameters: 11,488,300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47964"/>
            <a:ext cx="8531143" cy="65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b="true" sz="418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Hardware &amp; Software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65545"/>
            <a:ext cx="10066336" cy="155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Hardware Setup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Platform: Apple Silicon Mac with Apple MPS acceleration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RAM: [INSERT RAM DETAILS]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Storage: [INSERT STORAGE DETAILS]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79042"/>
            <a:ext cx="10066336" cy="194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Software Environment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Python 3.11.9 | Conda environment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PyTorch | Torchvision | timm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Albumentations | Scikit-learn</a:t>
            </a:r>
          </a:p>
          <a:p>
            <a:pPr algn="l" marL="438689" indent="-219344" lvl="1">
              <a:lnSpc>
                <a:spcPts val="3129"/>
              </a:lnSpc>
              <a:buFont typeface="Arial"/>
              <a:buChar char="•"/>
            </a:pPr>
            <a:r>
              <a:rPr lang="en-US" sz="2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NumPy | PyTest | YAML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103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5"/>
              </a:lnSpc>
            </a:pPr>
            <a:r>
              <a:rPr lang="en-US" b="true" sz="652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Training Configuration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82503"/>
            <a:ext cx="4733662" cy="298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Image Size: 224×224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Batch Size: 32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Max Epochs: 50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Optimizer: Adam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Learning Rate: 0.0001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Weight Decay: 0.00001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Loss Function: CrossEntropyLoss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82503"/>
            <a:ext cx="5395153" cy="298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Scheduler: ReduceLROnPlateau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Scheduler Factor: 0.1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Scheduler Patience: 5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Validation Split: 20%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Random Seed: 42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Backbone: EfficientNet-B3</a:t>
            </a:r>
          </a:p>
          <a:p>
            <a:pPr algn="just" marL="0" indent="0" lvl="0">
              <a:lnSpc>
                <a:spcPts val="3414"/>
              </a:lnSpc>
            </a:pPr>
            <a:r>
              <a:rPr lang="en-US" b="true" sz="2217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Pretrained: Yes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28914"/>
            <a:ext cx="8531143" cy="85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1"/>
              </a:lnSpc>
            </a:pPr>
            <a:r>
              <a:rPr lang="en-US" b="true" sz="5356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Overall 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64077"/>
            <a:ext cx="9894900" cy="2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End-to-End Processing Pipeline: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Dataset (BRISC2025)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Preprocessing (Resize 224×224, Normalize, Augment)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EfficientNet-B3 Backbone (Feature Extraction)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Classification Head (BN → Dropout → Linear → GELU → Linear)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Prediction (4-Class Softmax Output)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↓</a:t>
            </a:r>
          </a:p>
          <a:p>
            <a:pPr algn="ctr" marL="0" indent="0" lvl="0">
              <a:lnSpc>
                <a:spcPts val="2019"/>
              </a:lnSpc>
            </a:pPr>
            <a:r>
              <a:rPr lang="en-US" sz="131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Evaluation (Accuracy, Precision, Recall, F1)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Literature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54552"/>
            <a:ext cx="9894900" cy="281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8"/>
              </a:lnSpc>
            </a:pPr>
            <a:r>
              <a:rPr lang="en-US" sz="16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Tan &amp; Le (2019): Introduced the EfficientNet family of models using compound scaling of depth, width, and resolution. EfficientNet-B1 through B7 progressively scale model capacity while maintaining efficiency.</a:t>
            </a:r>
          </a:p>
          <a:p>
            <a:pPr algn="ctr" marL="0" indent="0" lvl="0">
              <a:lnSpc>
                <a:spcPts val="2498"/>
              </a:lnSpc>
            </a:pPr>
            <a:r>
              <a:rPr lang="en-US" sz="16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BRISC Dataset Research: The BRISC2025 dataset supports brain tumor classification across four classes — Glioma, Meningioma, No Tumor, and Pituitary — providing a standardised benchmark for MRI-based classification studies.</a:t>
            </a:r>
          </a:p>
          <a:p>
            <a:pPr algn="ctr" marL="0" indent="0" lvl="0">
              <a:lnSpc>
                <a:spcPts val="2498"/>
              </a:lnSpc>
            </a:pPr>
            <a:r>
              <a:rPr lang="en-US" sz="16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Brain Tumor Classification Studies: Recent work demonstrates that deep learning models trained on MRI data can achieve high classification accuracy. EfficientNet-based architectures have been applied in several brain tumor classification and segmentation experiments with strong results.</a:t>
            </a:r>
          </a:p>
          <a:p>
            <a:pPr algn="ctr" marL="0" indent="0" lvl="0">
              <a:lnSpc>
                <a:spcPts val="2498"/>
              </a:lnSpc>
            </a:pPr>
            <a:r>
              <a:rPr lang="en-US" sz="16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Note: No fabricated bibliographic details are included. References are limited to verifiable sources.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19389"/>
            <a:ext cx="8531143" cy="122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0"/>
              </a:lnSpc>
            </a:pPr>
            <a:r>
              <a:rPr lang="en-US" b="true" sz="770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Module Description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401553"/>
            <a:ext cx="4733662" cy="27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 Loader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Loads and prepares MRI images for training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Preprocessing &amp; Augmentation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Image transforms, resizing, and normalization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Model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EfficientNet-B3 backbone and classification head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401553"/>
            <a:ext cx="5395153" cy="20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Engine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Handles training loop and optimization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Evaluation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Metrics calculation and validation scoring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Testing</a:t>
            </a:r>
          </a:p>
          <a:p>
            <a:pPr algn="just" marL="0" indent="0" lvl="0">
              <a:lnSpc>
                <a:spcPts val="2770"/>
              </a:lnSpc>
            </a:pPr>
            <a:r>
              <a:rPr lang="en-US" b="true" sz="1798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Final model evaluation on official test set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Module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16452"/>
            <a:ext cx="9894900" cy="317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and Training Operation Flow: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MRI Image  →  Dataset Loader  →  Preprocessing  →  EfficientNet-B3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→  Classification Head  →  Prediction  →  Loss Calculation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→  Backpropagation  →  Validation  →  Best Checkpoint Save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→  Test Evaluation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89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4"/>
              </a:lnSpc>
            </a:pPr>
            <a:r>
              <a:rPr lang="en-US" b="true" sz="5649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Implementation and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94120"/>
            <a:ext cx="10066336" cy="189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Directory Structure: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BrainTumor-PE-1/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configs/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datasets_loader/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engine/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evaluation/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inference/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└── losses/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307617"/>
            <a:ext cx="10066336" cy="166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models/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tests/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utils/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train_classifier.py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requirements.txt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├── environment.yml</a:t>
            </a:r>
          </a:p>
          <a:p>
            <a:pPr algn="l" marL="0" indent="0" lvl="0">
              <a:lnSpc>
                <a:spcPts val="1915"/>
              </a:lnSpc>
            </a:pPr>
            <a:r>
              <a:rPr lang="en-US" sz="12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└── pyproject.toml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147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Unit Testing: Validates individual modules (dataset loader, model, training engine, evaluation) in isolation to ensure each component functions correctly.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47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Smoke Testing: Verifies basic end-to-end functionality of the pipeline. Official Evaluation: Final model assessed on the official 1,000-image test dataset to report accuracy, precision, recall, and F1 scores.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129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5"/>
              </a:lnSpc>
            </a:pPr>
            <a:r>
              <a:rPr lang="en-US" b="true" sz="435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Real-Time Usage / Practical 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54552"/>
            <a:ext cx="9894900" cy="306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4"/>
              </a:lnSpc>
            </a:pPr>
            <a:r>
              <a:rPr lang="en-US" sz="179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Inference Workflow:</a:t>
            </a:r>
          </a:p>
          <a:p>
            <a:pPr algn="ctr" marL="0" indent="0" lvl="0">
              <a:lnSpc>
                <a:spcPts val="2764"/>
              </a:lnSpc>
            </a:pPr>
            <a:r>
              <a:rPr lang="en-US" sz="179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MRI Image → Preprocessing (Resize 224×224, Normalize) → EfficientNet-B3 Model → Classification Head → Prediction → Classification Result (Glioma / Meningioma / No Tumor / Pituitary)</a:t>
            </a:r>
          </a:p>
          <a:p>
            <a:pPr algn="ctr" marL="0" indent="0" lvl="0">
              <a:lnSpc>
                <a:spcPts val="2764"/>
              </a:lnSpc>
            </a:pPr>
            <a:r>
              <a:rPr lang="en-US" sz="179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Important Note:</a:t>
            </a:r>
          </a:p>
          <a:p>
            <a:pPr algn="ctr" marL="0" indent="0" lvl="0">
              <a:lnSpc>
                <a:spcPts val="2764"/>
              </a:lnSpc>
            </a:pPr>
            <a:r>
              <a:rPr lang="en-US" sz="179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This system is an academic and research prototype developed for Project Exhibition 1 at VIT Bhopal University. It is NOT an autonomous medical diagnostic system and must NOT be used as a replacement for clinical diagnosis by qualified medical professionals. All results are experimental and intended solely for academic evaluation purposes.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28914"/>
            <a:ext cx="8531143" cy="119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61"/>
              </a:lnSpc>
            </a:pPr>
            <a:r>
              <a:rPr lang="en-US" b="true" sz="753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Project Screenshots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53928"/>
            <a:ext cx="4733662" cy="229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Structure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[ Screenshot Placeholder ]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Process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[ Screenshot Placeholder 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53928"/>
            <a:ext cx="5395153" cy="229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Log Files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[ Screenshot Placeholder ]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Inference / Prediction</a:t>
            </a:r>
          </a:p>
          <a:p>
            <a:pPr algn="just" marL="0" indent="0" lvl="0">
              <a:lnSpc>
                <a:spcPts val="4607"/>
              </a:lnSpc>
            </a:pPr>
            <a:r>
              <a:rPr lang="en-US" b="true" sz="299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[ Screenshot Placeholder ]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19389"/>
            <a:ext cx="8531143" cy="114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2"/>
              </a:lnSpc>
            </a:pPr>
            <a:r>
              <a:rPr lang="en-US" b="true" sz="719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Experimental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92028"/>
            <a:ext cx="4733662" cy="29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EfficientNet-B1 (Baseline)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Accuracy: 99.20%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Precision: 99.30%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Recall: 99.32%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F1: 99.31%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Parameters: 6.52M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Time: 144.6 min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Inference/Image: 1.66 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92028"/>
            <a:ext cx="5395153" cy="29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PE1 EfficientNet-B3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Accuracy: 98.70%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Precision: 98.53%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Recall: 98.90%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F1: 98.71%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Parameters: 11.49M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Time: 72.3 min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Inference/Image: 1.63 ms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Per-Class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176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3"/>
              </a:lnSpc>
            </a:pPr>
            <a:r>
              <a:rPr lang="en-US" sz="31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Glioma:       Precision: 99.21%   Recall: 99.21%   F1: 99.21%</a:t>
            </a:r>
          </a:p>
          <a:p>
            <a:pPr algn="l" marL="0" indent="0" lvl="0">
              <a:lnSpc>
                <a:spcPts val="4793"/>
              </a:lnSpc>
            </a:pPr>
            <a:r>
              <a:rPr lang="en-US" sz="31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Meningioma:  Precision: 98.03%   Recall: 97.71%   F1: 97.87%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76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3"/>
              </a:lnSpc>
            </a:pPr>
            <a:r>
              <a:rPr lang="en-US" sz="31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Tumor:    Precision: 97.22%   Recall: 100.00%  F1: 98.59%</a:t>
            </a:r>
          </a:p>
          <a:p>
            <a:pPr algn="l" marL="0" indent="0" lvl="0">
              <a:lnSpc>
                <a:spcPts val="4793"/>
              </a:lnSpc>
            </a:pPr>
            <a:r>
              <a:rPr lang="en-US" sz="31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Pituitary:    Precision: 99.66%   Recall: 98.67%   F1: 99.16%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28914"/>
            <a:ext cx="8531143" cy="11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3"/>
              </a:lnSpc>
            </a:pPr>
            <a:r>
              <a:rPr lang="en-US" b="true" sz="703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Result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45027"/>
            <a:ext cx="9894900" cy="310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EfficientNet-B3 did NOT outperform EfficientNet-B1 in classification performance.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Accuracy decreased from 99.20% (B1) to 98.70% (B3).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Macro F1 score decreased from 99.31% to 98.71%.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Macro Precision decreased from 99.30% to 98.53%.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Macro Recall slightly decreased from 99.32% to 98.90%.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PE1 training time: 72.3 minutes; inference time: 1.63 ms/image.</a:t>
            </a:r>
          </a:p>
          <a:p>
            <a:pPr algn="ctr" marL="0" indent="0" lvl="0">
              <a:lnSpc>
                <a:spcPts val="3083"/>
              </a:lnSpc>
            </a:pPr>
            <a:r>
              <a:rPr lang="en-US" sz="2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Conclusion: A larger model does not guarantee better classification performance in this scenario.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87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0"/>
              </a:lnSpc>
            </a:pPr>
            <a:r>
              <a:rPr lang="en-US" b="true" sz="552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Baseline vs Proposed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92028"/>
            <a:ext cx="4733662" cy="29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EfficientNet-B1 (Baseline)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Backbone: EfficientNet-B1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Head: Standard baseline head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Parameters: 6,518,308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Accuracy: 99.20%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F1: 99.31%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Time: 144.6 min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Inference: 1.66 ms/image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92028"/>
            <a:ext cx="5395153" cy="29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PE1 EfficientNet-B3 (Proposed)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Backbone: EfficientNet-B3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Head: Improved (BN + Dropout + GELU)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Parameters: 11,488,300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Accuracy: 98.70%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Macro F1: 98.71%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Training Time: 72.3 min</a:t>
            </a:r>
          </a:p>
          <a:p>
            <a:pPr algn="just" marL="0" indent="0" lvl="0">
              <a:lnSpc>
                <a:spcPts val="2963"/>
              </a:lnSpc>
            </a:pPr>
            <a:r>
              <a:rPr lang="en-US" b="true" sz="1924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Inference: 1.63 ms/image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Key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65545"/>
            <a:ext cx="10066336" cy="176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0"/>
              </a:lnSpc>
            </a:pPr>
            <a:r>
              <a:rPr lang="en-US" sz="23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EfficientNet-B1 baseline outperformed EfficientNet-B3 in this experiment, achieving higher Accuracy (99.20% vs 98.70%) and Macro F1 (99.31% vs 98.71%). A larger model with an improved classification head does not guarantee better classification performance on this dataset.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79042"/>
            <a:ext cx="10066336" cy="176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0"/>
              </a:lnSpc>
            </a:pPr>
            <a:r>
              <a:rPr lang="en-US" sz="23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EfficientNet-B3 halved training time (72.3 min vs 144.6 min) with comparable inference speed (1.63 ms vs 1.66 ms/image), indicating efficiency gains. Careful model selection is essential — balancing accuracy, parameter complexity, and computational efficiency is critical in medical imaging tasks.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Limitations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63453"/>
            <a:ext cx="4733662" cy="29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Specific BRISC2025 dataset split only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2D MRI images only, not volumetric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No external clinical validation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Not a diagnostic replacement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63453"/>
            <a:ext cx="5395153" cy="29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Higher compute with EfficientNet-B3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Classification only, not segmentation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Further experimentation needed</a:t>
            </a:r>
          </a:p>
          <a:p>
            <a:pPr algn="just" marL="0" indent="0" lvl="0">
              <a:lnSpc>
                <a:spcPts val="3930"/>
              </a:lnSpc>
            </a:pPr>
            <a:r>
              <a:rPr lang="en-US" b="true" sz="2552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Results may not generalise broadly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9787" y="4382503"/>
            <a:ext cx="4733662" cy="260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Explore other EfficientNet variants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Hyperparameter tuning &amp; optimization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Improved data augmentation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Address class imbalance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Grad-CAM / Explainable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1874" y="4382503"/>
            <a:ext cx="5395153" cy="216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Tumor localization &amp; segmentation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Multi-modal MRI input integration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External clinical validation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Web / desktop research deployment</a:t>
            </a:r>
          </a:p>
          <a:p>
            <a:pPr algn="just" marL="0" indent="0" lvl="0">
              <a:lnSpc>
                <a:spcPts val="3479"/>
              </a:lnSpc>
            </a:pPr>
            <a:r>
              <a:rPr lang="en-US" b="true" sz="2259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Larger &amp; diverse datasets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09864"/>
            <a:ext cx="8531143" cy="12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4"/>
              </a:lnSpc>
            </a:pPr>
            <a:r>
              <a:rPr lang="en-US" b="true" sz="7994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54552"/>
            <a:ext cx="9894900" cy="306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PE1 EfficientNet-B3 achieved 98.70% Accuracy and 98.71% Macro F1 on the BRISC2025 test set.</a:t>
            </a:r>
          </a:p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Baseline EfficientNet-B1 achieved 99.20% Accuracy and 99.31% Macro F1 under identical conditions.</a:t>
            </a:r>
          </a:p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EfficientNet-B3 did not improve classification performance over EfficientNet-B1 in this experiment.</a:t>
            </a:r>
          </a:p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Larger model size (11.49M vs 6.52M parameters) did not guarantee better accuracy in this scenario.</a:t>
            </a:r>
          </a:p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Training time was halved with EfficientNet-B3 (72.3 min vs 144.6 min), indicating efficiency gains.</a:t>
            </a:r>
          </a:p>
          <a:p>
            <a:pPr algn="ctr" marL="0" indent="0" lvl="0">
              <a:lnSpc>
                <a:spcPts val="2737"/>
              </a:lnSpc>
            </a:pPr>
            <a:r>
              <a:rPr lang="en-US" sz="177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Careful architecture selection is essential in medical imaging classification tasks.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3953" y="3755397"/>
            <a:ext cx="7691481" cy="96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67"/>
              </a:lnSpc>
            </a:pPr>
            <a:r>
              <a:rPr lang="en-US" sz="6137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DAHXNmUnpDA</dc:identifier>
  <dcterms:modified xsi:type="dcterms:W3CDTF">2011-08-01T06:04:30Z</dcterms:modified>
  <cp:revision>1</cp:revision>
  <dc:title>EfficientNet-B3 Project</dc:title>
</cp:coreProperties>
</file>