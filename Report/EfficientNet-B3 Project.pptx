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y="10287000" cx="18288000"/>
  <p:notesSz cx="6858000" cy="9144000"/>
  <p:embeddedFontLst>
    <p:embeddedFont>
      <p:font typeface="Alegreya Sans SC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9" roundtripDataSignature="AMtx7mgDDPs8NKnoObdmaCcxQPuvPRid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AlegreyaSansSC-regular.fntdata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AlegreyaSansSC-italic.fntdata"/><Relationship Id="rId14" Type="http://schemas.openxmlformats.org/officeDocument/2006/relationships/slide" Target="slides/slide9.xml"/><Relationship Id="rId36" Type="http://schemas.openxmlformats.org/officeDocument/2006/relationships/font" Target="fonts/AlegreyaSansSC-bold.fntdata"/><Relationship Id="rId17" Type="http://schemas.openxmlformats.org/officeDocument/2006/relationships/slide" Target="slides/slide12.xml"/><Relationship Id="rId39" Type="http://customschemas.google.com/relationships/presentationmetadata" Target="metadata"/><Relationship Id="rId16" Type="http://schemas.openxmlformats.org/officeDocument/2006/relationships/slide" Target="slides/slide11.xml"/><Relationship Id="rId38" Type="http://schemas.openxmlformats.org/officeDocument/2006/relationships/font" Target="fonts/AlegreyaSansSC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-5400000">
            <a:off x="4111763" y="-4096750"/>
            <a:ext cx="10287000" cy="18288000"/>
          </a:xfrm>
          <a:custGeom>
            <a:rect b="b" l="l" r="r" t="t"/>
            <a:pathLst>
              <a:path extrusionOk="0" h="18288000" w="10287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 txBox="1"/>
          <p:nvPr/>
        </p:nvSpPr>
        <p:spPr>
          <a:xfrm>
            <a:off x="2270980" y="2218001"/>
            <a:ext cx="13968571" cy="513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50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EfficientNet-B3 Brain Tumor Classification Experiment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2270980" y="2954309"/>
            <a:ext cx="9185700" cy="41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18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Project Exhibition 1</a:t>
            </a:r>
            <a:endParaRPr/>
          </a:p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18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Supervisor :- Dr. Vikas Panthi Sir</a:t>
            </a:r>
            <a:endParaRPr/>
          </a:p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4018" u="none" cap="none" strike="noStrike">
              <a:solidFill>
                <a:srgbClr val="000000"/>
              </a:solidFill>
              <a:latin typeface="Alegreya Sans SC"/>
              <a:ea typeface="Alegreya Sans SC"/>
              <a:cs typeface="Alegreya Sans SC"/>
              <a:sym typeface="Alegreya Sans SC"/>
            </a:endParaRPr>
          </a:p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4018" u="none" cap="none" strike="noStrike">
              <a:solidFill>
                <a:srgbClr val="000000"/>
              </a:solidFill>
              <a:latin typeface="Alegreya Sans SC"/>
              <a:ea typeface="Alegreya Sans SC"/>
              <a:cs typeface="Alegreya Sans SC"/>
              <a:sym typeface="Alegreya Sans SC"/>
            </a:endParaRPr>
          </a:p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4018" u="none" cap="none" strike="noStrike">
              <a:solidFill>
                <a:srgbClr val="000000"/>
              </a:solidFill>
              <a:latin typeface="Alegreya Sans SC"/>
              <a:ea typeface="Alegreya Sans SC"/>
              <a:cs typeface="Alegreya Sans SC"/>
              <a:sym typeface="Alegreya Sans SC"/>
            </a:endParaRPr>
          </a:p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4018" u="none" cap="none" strike="noStrike">
              <a:solidFill>
                <a:srgbClr val="000000"/>
              </a:solidFill>
              <a:latin typeface="Alegreya Sans SC"/>
              <a:ea typeface="Alegreya Sans SC"/>
              <a:cs typeface="Alegreya Sans SC"/>
              <a:sym typeface="Alegreya Sans SC"/>
            </a:endParaRPr>
          </a:p>
          <a:p>
            <a:pPr indent="0" lvl="0" marL="0" marR="0" rtl="0" algn="l">
              <a:lnSpc>
                <a:spcPct val="106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89" name="Google Shape;89;p1" title="VIT Bhopal logo_blu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4405868" cy="221800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 rot="10800000">
            <a:off x="11780425" y="7746825"/>
            <a:ext cx="3379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2" name="Google Shape;92;p1"/>
          <p:cNvSpPr txBox="1"/>
          <p:nvPr/>
        </p:nvSpPr>
        <p:spPr>
          <a:xfrm>
            <a:off x="3120850" y="7363200"/>
            <a:ext cx="6158700" cy="2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Hanish Singla (25BCE10632)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Abhash Pandey (25BCE11412)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Angelina Mishra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(25BCE10663)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Ankur Mishra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(25BCE11174)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Bhoomi Mittal (25BCE10391)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8" name="Google Shape;98;p2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9" name="Google Shape;99;p2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0" name="Google Shape;100;p2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2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2" name="Google Shape;102;p2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103" name="Google Shape;103;p2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2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5" name="Google Shape;105;p2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Introduction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4350957" y="4445027"/>
            <a:ext cx="9894900" cy="31044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Brain Tumors: Abnormal cell growth in the brain that can critically impact neurological function and overall health.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MRI Imaging: Magnetic Resonance Imaging (MRI) is the primary non-invasive modality used for brain tumor detection and diagnosis.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Deep Learning: Automated deep learning models can classify brain tumor types from MRI images with high accuracy, reducing reliance on manual interpretation.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Project Purpose: Explore EfficientNet-B3 for brain tumor classification to improve accuracy and efficiency over existing baseline models.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2" name="Google Shape;112;p3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3" name="Google Shape;113;p3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4" name="Google Shape;114;p3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5" name="Google Shape;115;p3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16" name="Google Shape;116;p3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117" name="Google Shape;117;p3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3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9" name="Google Shape;119;p3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Problem Statement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4110832" y="3446495"/>
            <a:ext cx="10066336" cy="9751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EfficientNet-B3 with an improved classification head perform better than EfficientNet-B1 under the same experimental conditions?</a:t>
            </a:r>
            <a:endParaRPr/>
          </a:p>
        </p:txBody>
      </p:sp>
      <p:grpSp>
        <p:nvGrpSpPr>
          <p:cNvPr id="121" name="Google Shape;121;p3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122" name="Google Shape;122;p3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3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3"/>
          <p:cNvSpPr txBox="1"/>
          <p:nvPr/>
        </p:nvSpPr>
        <p:spPr>
          <a:xfrm>
            <a:off x="4085368" y="6259992"/>
            <a:ext cx="10066336" cy="19657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Objective: Conduct a controlled comparison of EfficientNet-B3 vs. EfficientNet-B1 using identical dataset splits, preprocessing, training configuration, and evaluation metrics to isolate the impact of architecture changes.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0" name="Google Shape;130;p4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1" name="Google Shape;131;p4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p4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3" name="Google Shape;133;p4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4" name="Google Shape;134;p4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135" name="Google Shape;135;p4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4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7" name="Google Shape;137;p4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Existing Work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3719774" y="4353924"/>
            <a:ext cx="4986600" cy="27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EfficientNet-B1 Baseline</a:t>
            </a:r>
            <a:endParaRPr/>
          </a:p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Parameters: 6,518,308</a:t>
            </a:r>
            <a:endParaRPr/>
          </a:p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Accuracy: 99.20%</a:t>
            </a:r>
            <a:endParaRPr/>
          </a:p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Macro Precision: 99.30%</a:t>
            </a:r>
            <a:endParaRPr/>
          </a:p>
        </p:txBody>
      </p:sp>
      <p:sp>
        <p:nvSpPr>
          <p:cNvPr id="139" name="Google Shape;139;p4"/>
          <p:cNvSpPr txBox="1"/>
          <p:nvPr/>
        </p:nvSpPr>
        <p:spPr>
          <a:xfrm>
            <a:off x="9481874" y="4353928"/>
            <a:ext cx="5395153" cy="2480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Performance Metrics</a:t>
            </a:r>
            <a:endParaRPr/>
          </a:p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Macro Recall: 99.32%</a:t>
            </a:r>
            <a:endParaRPr/>
          </a:p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Macro F1: 99.31%</a:t>
            </a:r>
            <a:endParaRPr/>
          </a:p>
          <a:p>
            <a:pPr indent="0" lvl="0" marL="0" marR="0" rtl="0" algn="just">
              <a:lnSpc>
                <a:spcPct val="15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2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Dataset: BRISC2025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5" name="Google Shape;145;p5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6" name="Google Shape;146;p5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7" name="Google Shape;147;p5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8" name="Google Shape;148;p5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49" name="Google Shape;149;p5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150" name="Google Shape;150;p5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5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5"/>
          <p:cNvSpPr txBox="1"/>
          <p:nvPr/>
        </p:nvSpPr>
        <p:spPr>
          <a:xfrm>
            <a:off x="4020073" y="1538447"/>
            <a:ext cx="85311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49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Existing Work – Limitations</a:t>
            </a:r>
            <a:endParaRPr/>
          </a:p>
        </p:txBody>
      </p:sp>
      <p:sp>
        <p:nvSpPr>
          <p:cNvPr id="153" name="Google Shape;153;p5"/>
          <p:cNvSpPr txBox="1"/>
          <p:nvPr/>
        </p:nvSpPr>
        <p:spPr>
          <a:xfrm>
            <a:off x="4110832" y="3446495"/>
            <a:ext cx="10066336" cy="1470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Baseline limited to EfficientNet-B1 architecture; larger EfficientNet variants (B2, B3, etc.) have not been explored for this task, leaving potential performance improvements unexamined.</a:t>
            </a:r>
            <a:endParaRPr/>
          </a:p>
        </p:txBody>
      </p:sp>
      <p:grpSp>
        <p:nvGrpSpPr>
          <p:cNvPr id="154" name="Google Shape;154;p5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155" name="Google Shape;155;p5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5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7" name="Google Shape;157;p5"/>
          <p:cNvSpPr txBox="1"/>
          <p:nvPr/>
        </p:nvSpPr>
        <p:spPr>
          <a:xfrm>
            <a:off x="4085368" y="6259992"/>
            <a:ext cx="10066336" cy="19657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classification head architecture was not enhanced in the baseline; a controlled comparison under identical experimental conditions is needed to isolate the impact of backbone and head improvements.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3" name="Google Shape;163;p6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4" name="Google Shape;164;p6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5" name="Google Shape;165;p6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6" name="Google Shape;166;p6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7" name="Google Shape;167;p6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168" name="Google Shape;168;p6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6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0" name="Google Shape;170;p6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Proposed Work</a:t>
            </a:r>
            <a:endParaRPr/>
          </a:p>
        </p:txBody>
      </p:sp>
      <p:sp>
        <p:nvSpPr>
          <p:cNvPr id="171" name="Google Shape;171;p6"/>
          <p:cNvSpPr txBox="1"/>
          <p:nvPr/>
        </p:nvSpPr>
        <p:spPr>
          <a:xfrm>
            <a:off x="3719787" y="4382503"/>
            <a:ext cx="4733662" cy="2552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Upgrade backbone from EfficientNet-B1 to EfficientNet-B3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Improved classification head with Batch Normalization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Dropout layers for regularization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GELU activation function</a:t>
            </a:r>
            <a:endParaRPr/>
          </a:p>
        </p:txBody>
      </p:sp>
      <p:sp>
        <p:nvSpPr>
          <p:cNvPr id="172" name="Google Shape;172;p6"/>
          <p:cNvSpPr txBox="1"/>
          <p:nvPr/>
        </p:nvSpPr>
        <p:spPr>
          <a:xfrm>
            <a:off x="9481874" y="4382503"/>
            <a:ext cx="5395153" cy="29808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Pretrained backbone weights for transfer learning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Total parameters: 11,488,300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Controlled experiments under identical settings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Fair comparison with EfficientNet-B1 baseline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8" name="Google Shape;178;p7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9" name="Google Shape;179;p7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0" name="Google Shape;180;p7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1" name="Google Shape;181;p7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82" name="Google Shape;182;p7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183" name="Google Shape;183;p7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7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7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Methodology</a:t>
            </a:r>
            <a:endParaRPr/>
          </a:p>
        </p:txBody>
      </p:sp>
      <p:sp>
        <p:nvSpPr>
          <p:cNvPr id="186" name="Google Shape;186;p7"/>
          <p:cNvSpPr txBox="1"/>
          <p:nvPr/>
        </p:nvSpPr>
        <p:spPr>
          <a:xfrm>
            <a:off x="4350957" y="4416452"/>
            <a:ext cx="9894900" cy="3177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Experimental Process Flow: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  →  Preprocessing  →  Train/Validation Split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EfficientNet-B3  →  Classification Head  →  Prediction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Evaluation  →  Comparison with EfficientNet-B1 Baseline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2" name="Google Shape;192;p8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3" name="Google Shape;193;p8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4" name="Google Shape;194;p8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5" name="Google Shape;195;p8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6" name="Google Shape;196;p8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197" name="Google Shape;197;p8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8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8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Dataset</a:t>
            </a:r>
            <a:endParaRPr/>
          </a:p>
        </p:txBody>
      </p:sp>
      <p:sp>
        <p:nvSpPr>
          <p:cNvPr id="200" name="Google Shape;200;p8"/>
          <p:cNvSpPr txBox="1"/>
          <p:nvPr/>
        </p:nvSpPr>
        <p:spPr>
          <a:xfrm>
            <a:off x="3719787" y="4353928"/>
            <a:ext cx="4733662" cy="3016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Training Images: 5,000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Glioma: 1,147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Meningioma: 1,329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No Tumor: 1,067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Pituitary: 1,457</a:t>
            </a:r>
            <a:endParaRPr/>
          </a:p>
        </p:txBody>
      </p:sp>
      <p:sp>
        <p:nvSpPr>
          <p:cNvPr id="201" name="Google Shape;201;p8"/>
          <p:cNvSpPr txBox="1"/>
          <p:nvPr/>
        </p:nvSpPr>
        <p:spPr>
          <a:xfrm>
            <a:off x="9481874" y="4353928"/>
            <a:ext cx="5395153" cy="3016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Official Test Images: 1,000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Glioma: 254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Meningioma: 306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No Tumor: 140</a:t>
            </a:r>
            <a:endParaRPr/>
          </a:p>
          <a:p>
            <a:pPr indent="0" lvl="0" marL="0" marR="0" rtl="0" algn="just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Pituitary: 300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7" name="Google Shape;207;p9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8" name="Google Shape;208;p9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9" name="Google Shape;209;p9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0" name="Google Shape;210;p9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11" name="Google Shape;211;p9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212" name="Google Shape;212;p9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9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4" name="Google Shape;214;p9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Dataset Split</a:t>
            </a: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110832" y="3465545"/>
            <a:ext cx="10066200" cy="21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 Partitions:</a:t>
            </a:r>
            <a:endParaRPr sz="1300"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Training: 80% = 4,000 images</a:t>
            </a:r>
            <a:endParaRPr sz="1300"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Validation: 20% = 1,000 images</a:t>
            </a:r>
            <a:endParaRPr sz="1300"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Official Test: 1,000 images</a:t>
            </a:r>
            <a:endParaRPr sz="1300"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Random Seed: 42 (for reproducibility)</a:t>
            </a:r>
            <a:endParaRPr sz="1300"/>
          </a:p>
        </p:txBody>
      </p:sp>
      <p:grpSp>
        <p:nvGrpSpPr>
          <p:cNvPr id="216" name="Google Shape;216;p9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217" name="Google Shape;217;p9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9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9" name="Google Shape;219;p9"/>
          <p:cNvSpPr txBox="1"/>
          <p:nvPr/>
        </p:nvSpPr>
        <p:spPr>
          <a:xfrm>
            <a:off x="4085368" y="6279042"/>
            <a:ext cx="10066336" cy="1941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 Label Encoding:</a:t>
            </a:r>
            <a:endParaRPr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0: Glioma</a:t>
            </a:r>
            <a:endParaRPr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1: Meningioma</a:t>
            </a:r>
            <a:endParaRPr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2: No Tumor</a:t>
            </a:r>
            <a:endParaRPr/>
          </a:p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3: Pituitary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5" name="Google Shape;225;p10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6" name="Google Shape;226;p10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7" name="Google Shape;227;p10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8" name="Google Shape;228;p10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29" name="Google Shape;229;p10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230" name="Google Shape;230;p10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10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2" name="Google Shape;232;p10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Novelty</a:t>
            </a:r>
            <a:endParaRPr/>
          </a:p>
        </p:txBody>
      </p:sp>
      <p:sp>
        <p:nvSpPr>
          <p:cNvPr id="233" name="Google Shape;233;p10"/>
          <p:cNvSpPr txBox="1"/>
          <p:nvPr/>
        </p:nvSpPr>
        <p:spPr>
          <a:xfrm>
            <a:off x="3719774" y="4392024"/>
            <a:ext cx="4986600" cy="26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Controlled Comparison</a:t>
            </a:r>
            <a:endParaRPr/>
          </a:p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EfficientNet-B3 vs EfficientNet-B1 under identical experimental conditions</a:t>
            </a:r>
            <a:endParaRPr/>
          </a:p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Improved Classification Head</a:t>
            </a:r>
            <a:endParaRPr/>
          </a:p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Batch Normalization, Dropout, and GELU activation for enhanced learning</a:t>
            </a:r>
            <a:endParaRPr/>
          </a:p>
        </p:txBody>
      </p:sp>
      <p:sp>
        <p:nvSpPr>
          <p:cNvPr id="234" name="Google Shape;234;p10"/>
          <p:cNvSpPr txBox="1"/>
          <p:nvPr/>
        </p:nvSpPr>
        <p:spPr>
          <a:xfrm>
            <a:off x="9345625" y="4392025"/>
            <a:ext cx="60237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Pretrained Backbone</a:t>
            </a:r>
            <a:endParaRPr sz="2000"/>
          </a:p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Transfer</a:t>
            </a:r>
            <a:r>
              <a:rPr b="1" lang="en-US" sz="2000">
                <a:solidFill>
                  <a:srgbClr val="3C3F42"/>
                </a:solidFill>
              </a:rPr>
              <a:t> </a:t>
            </a:r>
            <a:r>
              <a:rPr b="1" i="0" lang="en-US" sz="2000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learning with pretrained EfficientNet-B3 weights.</a:t>
            </a:r>
            <a:endParaRPr sz="2000"/>
          </a:p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Architecture-Isolated Evaluation</a:t>
            </a:r>
            <a:endParaRPr sz="2000"/>
          </a:p>
          <a:p>
            <a:pPr indent="0" lvl="0" marL="0" marR="0" rtl="0" algn="just">
              <a:lnSpc>
                <a:spcPct val="153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Controlled setup to isolate impact of backbone and head changes.</a:t>
            </a:r>
            <a:endParaRPr sz="2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1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0" name="Google Shape;240;p11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11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2" name="Google Shape;242;p11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3" name="Google Shape;243;p11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44" name="Google Shape;244;p11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245" name="Google Shape;245;p11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11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p11"/>
          <p:cNvSpPr txBox="1"/>
          <p:nvPr/>
        </p:nvSpPr>
        <p:spPr>
          <a:xfrm>
            <a:off x="4878428" y="1519389"/>
            <a:ext cx="8531143" cy="12225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701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Model Architecture</a:t>
            </a:r>
            <a:endParaRPr/>
          </a:p>
        </p:txBody>
      </p:sp>
      <p:sp>
        <p:nvSpPr>
          <p:cNvPr id="248" name="Google Shape;248;p11"/>
          <p:cNvSpPr txBox="1"/>
          <p:nvPr/>
        </p:nvSpPr>
        <p:spPr>
          <a:xfrm>
            <a:off x="4350970" y="3654102"/>
            <a:ext cx="9894900" cy="4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Input: MRI Image — 3 × 224 × 224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Backbone: EfficientNet-B3 (Pretrained)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Global Average Pooling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9"/>
              <a:t>B</a:t>
            </a: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atch Normalization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Dropout (0.30)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Linear Layer: 1536 → 512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GELU Activation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Dropout (0.20)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Linear Layer: 512 → 4 (Output Classes)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Output: Four-Class Prediction</a:t>
            </a:r>
            <a:endParaRPr sz="1700"/>
          </a:p>
          <a:p>
            <a:pPr indent="0" lvl="0" marL="0" marR="0" rtl="0" algn="ctr">
              <a:lnSpc>
                <a:spcPct val="154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Total Parameters: 11,488,300  |  Trainable Parameters: 11,488,300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4" name="Google Shape;254;p12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5" name="Google Shape;255;p12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6" name="Google Shape;256;p12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7" name="Google Shape;257;p12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58" name="Google Shape;258;p12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259" name="Google Shape;259;p12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12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1" name="Google Shape;261;p12"/>
          <p:cNvSpPr txBox="1"/>
          <p:nvPr/>
        </p:nvSpPr>
        <p:spPr>
          <a:xfrm>
            <a:off x="5546076" y="1558800"/>
            <a:ext cx="5967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83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Hardware </a:t>
            </a:r>
            <a:r>
              <a:rPr b="1" lang="en-US" sz="4183">
                <a:latin typeface="Alegreya Sans SC"/>
                <a:ea typeface="Alegreya Sans SC"/>
                <a:cs typeface="Alegreya Sans SC"/>
                <a:sym typeface="Alegreya Sans SC"/>
              </a:rPr>
              <a:t>and</a:t>
            </a:r>
            <a:r>
              <a:rPr b="1" i="0" lang="en-US" sz="4183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 Software</a:t>
            </a:r>
            <a:endParaRPr/>
          </a:p>
        </p:txBody>
      </p:sp>
      <p:sp>
        <p:nvSpPr>
          <p:cNvPr id="262" name="Google Shape;262;p12"/>
          <p:cNvSpPr txBox="1"/>
          <p:nvPr/>
        </p:nvSpPr>
        <p:spPr>
          <a:xfrm>
            <a:off x="4110832" y="3465545"/>
            <a:ext cx="10066200" cy="17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Hardware Setup</a:t>
            </a:r>
            <a:endParaRPr/>
          </a:p>
          <a:p>
            <a:pPr indent="-21934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Arial"/>
              <a:buChar char="•"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Platform : Apple Silicon Mac with Apple MPS acceleration</a:t>
            </a:r>
            <a:endParaRPr/>
          </a:p>
          <a:p>
            <a:pPr indent="-21934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Arial"/>
              <a:buChar char="•"/>
            </a:pPr>
            <a:r>
              <a:rPr b="0" i="0" lang="en-US" sz="20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RAM : </a:t>
            </a:r>
            <a:r>
              <a:rPr lang="en-US" sz="2031"/>
              <a:t>48 GB</a:t>
            </a:r>
            <a:endParaRPr/>
          </a:p>
          <a:p>
            <a:pPr indent="-21934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Arial"/>
              <a:buChar char="•"/>
            </a:pPr>
            <a:r>
              <a:rPr lang="en-US" sz="2031"/>
              <a:t>Specifications : M5 Max</a:t>
            </a:r>
            <a:endParaRPr/>
          </a:p>
        </p:txBody>
      </p:sp>
      <p:grpSp>
        <p:nvGrpSpPr>
          <p:cNvPr id="263" name="Google Shape;263;p12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264" name="Google Shape;264;p12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  <p:sp>
          <p:nvSpPr>
            <p:cNvPr id="265" name="Google Shape;265;p12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6" name="Google Shape;266;p12"/>
          <p:cNvSpPr txBox="1"/>
          <p:nvPr/>
        </p:nvSpPr>
        <p:spPr>
          <a:xfrm>
            <a:off x="4085368" y="6279042"/>
            <a:ext cx="10066200" cy="21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Software Environment</a:t>
            </a:r>
            <a:endParaRPr sz="1300"/>
          </a:p>
          <a:p>
            <a:pPr indent="-21299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31"/>
              <a:buFont typeface="Arial"/>
              <a:buChar char="•"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Python 3.11.9 | Conda environment</a:t>
            </a:r>
            <a:endParaRPr sz="1300"/>
          </a:p>
          <a:p>
            <a:pPr indent="-21299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31"/>
              <a:buFont typeface="Arial"/>
              <a:buChar char="•"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PyTorch | Torchvision | timm</a:t>
            </a:r>
            <a:endParaRPr sz="1300"/>
          </a:p>
          <a:p>
            <a:pPr indent="-21299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31"/>
              <a:buFont typeface="Arial"/>
              <a:buChar char="•"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Albumentations | Scikit-learn</a:t>
            </a:r>
            <a:endParaRPr sz="1300"/>
          </a:p>
          <a:p>
            <a:pPr indent="-212994" lvl="1" marL="438689" marR="0" rtl="0" algn="l">
              <a:lnSpc>
                <a:spcPct val="15406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31"/>
              <a:buFont typeface="Arial"/>
              <a:buChar char="•"/>
            </a:pPr>
            <a:r>
              <a:rPr b="0" i="0" lang="en-US" sz="193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NumPy | PyTest | YAML</a:t>
            </a:r>
            <a:endParaRPr sz="13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3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2" name="Google Shape;272;p13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3" name="Google Shape;273;p13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4" name="Google Shape;274;p13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5" name="Google Shape;275;p13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76" name="Google Shape;276;p13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277" name="Google Shape;277;p13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13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9" name="Google Shape;279;p13"/>
          <p:cNvSpPr txBox="1"/>
          <p:nvPr/>
        </p:nvSpPr>
        <p:spPr>
          <a:xfrm>
            <a:off x="4878428" y="1538439"/>
            <a:ext cx="8531143" cy="10317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528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Training Configuration</a:t>
            </a:r>
            <a:endParaRPr/>
          </a:p>
        </p:txBody>
      </p:sp>
      <p:sp>
        <p:nvSpPr>
          <p:cNvPr id="280" name="Google Shape;280;p13"/>
          <p:cNvSpPr txBox="1"/>
          <p:nvPr/>
        </p:nvSpPr>
        <p:spPr>
          <a:xfrm>
            <a:off x="3719787" y="4382503"/>
            <a:ext cx="4733662" cy="29808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Image Size: 224×224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Batch Size: 32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Max Epochs: 50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Optimizer: Adam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Learning Rate: 0.0001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Weight Decay: 0.00001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Loss Function: CrossEntropyLoss</a:t>
            </a:r>
            <a:endParaRPr/>
          </a:p>
        </p:txBody>
      </p:sp>
      <p:sp>
        <p:nvSpPr>
          <p:cNvPr id="281" name="Google Shape;281;p13"/>
          <p:cNvSpPr txBox="1"/>
          <p:nvPr/>
        </p:nvSpPr>
        <p:spPr>
          <a:xfrm>
            <a:off x="9481874" y="4382503"/>
            <a:ext cx="5395153" cy="29808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Scheduler: ReduceLROnPlateau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Scheduler Factor: 0.1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Scheduler Patience: 5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Validation Split: 20%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Random Seed: 42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Backbone: EfficientNet-B3</a:t>
            </a:r>
            <a:endParaRPr/>
          </a:p>
          <a:p>
            <a:pPr indent="0" lvl="0" marL="0" marR="0" rtl="0" algn="just">
              <a:lnSpc>
                <a:spcPct val="153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17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Pretrained: Yes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7" name="Google Shape;287;p14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8" name="Google Shape;288;p14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9" name="Google Shape;289;p14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0" name="Google Shape;290;p14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91" name="Google Shape;291;p14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292" name="Google Shape;292;p14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4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4" name="Google Shape;294;p14"/>
          <p:cNvSpPr txBox="1"/>
          <p:nvPr/>
        </p:nvSpPr>
        <p:spPr>
          <a:xfrm>
            <a:off x="4878428" y="1528914"/>
            <a:ext cx="8531143" cy="859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356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Overall System Architecture</a:t>
            </a:r>
            <a:endParaRPr/>
          </a:p>
        </p:txBody>
      </p:sp>
      <p:sp>
        <p:nvSpPr>
          <p:cNvPr id="295" name="Google Shape;295;p14"/>
          <p:cNvSpPr txBox="1"/>
          <p:nvPr/>
        </p:nvSpPr>
        <p:spPr>
          <a:xfrm>
            <a:off x="4350970" y="3637765"/>
            <a:ext cx="9894900" cy="44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End-to-End Processing Pipeline: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 (BRISC2025)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Preprocessing (Resize 224×224, Normalize, Augment)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EfficientNet-B3 Backbone (Feature Extraction)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Classification Head (BN → Dropout → Linear → GELU → Linear)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Prediction (4-Class Softmax Output)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700"/>
          </a:p>
          <a:p>
            <a:pPr indent="0" lvl="0" marL="0" marR="0" rtl="0" algn="ctr">
              <a:lnSpc>
                <a:spcPct val="154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Evaluation (Accuracy, Precision, Recall, F1)</a:t>
            </a:r>
            <a:endParaRPr sz="17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5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1" name="Google Shape;301;p15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2" name="Google Shape;302;p15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3" name="Google Shape;303;p15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4" name="Google Shape;304;p15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05" name="Google Shape;305;p15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306" name="Google Shape;306;p15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15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8" name="Google Shape;308;p15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Literature Review</a:t>
            </a:r>
            <a:endParaRPr/>
          </a:p>
        </p:txBody>
      </p:sp>
      <p:sp>
        <p:nvSpPr>
          <p:cNvPr id="309" name="Google Shape;309;p15"/>
          <p:cNvSpPr txBox="1"/>
          <p:nvPr/>
        </p:nvSpPr>
        <p:spPr>
          <a:xfrm>
            <a:off x="4350957" y="4454552"/>
            <a:ext cx="9894900" cy="2816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 &amp; Le (2019): Introduced the EfficientNet family of models using compound scaling of depth, width, and resolution. EfficientNet-B1 through B7 progressively scale model capacity while maintaining efficiency.</a:t>
            </a:r>
            <a:endParaRPr/>
          </a:p>
          <a:p>
            <a:pPr indent="0" lvl="0" marL="0" marR="0" rtl="0" algn="ctr">
              <a:lnSpc>
                <a:spcPct val="154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BRISC Dataset Research: The BRISC2025 dataset supports brain tumor classification across four classes — Glioma, Meningioma, No Tumor, and Pituitary — providing a standardised benchmark for MRI-based classification studies.</a:t>
            </a:r>
            <a:endParaRPr/>
          </a:p>
          <a:p>
            <a:pPr indent="0" lvl="0" marL="0" marR="0" rtl="0" algn="ctr">
              <a:lnSpc>
                <a:spcPct val="154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Brain Tumor Classification Studies: Recent work demonstrates that deep learning models trained on MRI data can achieve high classification accuracy. EfficientNet-based architectures have been applied in several brain tumor classification and segmentation experiments with strong results.</a:t>
            </a:r>
            <a:endParaRPr/>
          </a:p>
          <a:p>
            <a:pPr indent="0" lvl="0" marL="0" marR="0" rtl="0" algn="ctr">
              <a:lnSpc>
                <a:spcPct val="154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Note: No fabricated bibliographic details are included. References are limited to verifiable sources.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6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5" name="Google Shape;315;p16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6" name="Google Shape;316;p16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7" name="Google Shape;317;p16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8" name="Google Shape;318;p16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19" name="Google Shape;319;p16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320" name="Google Shape;320;p16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16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2" name="Google Shape;322;p16"/>
          <p:cNvSpPr txBox="1"/>
          <p:nvPr/>
        </p:nvSpPr>
        <p:spPr>
          <a:xfrm>
            <a:off x="4878428" y="1519389"/>
            <a:ext cx="8531143" cy="12225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701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Module Description</a:t>
            </a:r>
            <a:endParaRPr/>
          </a:p>
        </p:txBody>
      </p:sp>
      <p:sp>
        <p:nvSpPr>
          <p:cNvPr id="323" name="Google Shape;323;p16"/>
          <p:cNvSpPr txBox="1"/>
          <p:nvPr/>
        </p:nvSpPr>
        <p:spPr>
          <a:xfrm>
            <a:off x="3586286" y="4401550"/>
            <a:ext cx="5395200" cy="24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Dataset Loader :- 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Loads and prepares MRI images for training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Preprocessing &amp; Augmentation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Image transforms, resizing, and normalization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Model :- 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EfficientNet-B3 backbone and classification head</a:t>
            </a:r>
            <a:endParaRPr/>
          </a:p>
        </p:txBody>
      </p:sp>
      <p:sp>
        <p:nvSpPr>
          <p:cNvPr id="324" name="Google Shape;324;p16"/>
          <p:cNvSpPr txBox="1"/>
          <p:nvPr/>
        </p:nvSpPr>
        <p:spPr>
          <a:xfrm>
            <a:off x="9575325" y="4401550"/>
            <a:ext cx="5775900" cy="24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Training Engine :- 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Handles training loop and optimization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Evaluation :- 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Metrics calculation and validation scoring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Testing :- </a:t>
            </a:r>
            <a:endParaRPr/>
          </a:p>
          <a:p>
            <a:pPr indent="0" lvl="0" marL="0" marR="0" rtl="0" algn="just">
              <a:lnSpc>
                <a:spcPct val="15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8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Final model evaluation on official test set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7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0" name="Google Shape;330;p17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1" name="Google Shape;331;p17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2" name="Google Shape;332;p17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3" name="Google Shape;333;p17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34" name="Google Shape;334;p17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335" name="Google Shape;335;p17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17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7" name="Google Shape;337;p17"/>
          <p:cNvSpPr txBox="1"/>
          <p:nvPr/>
        </p:nvSpPr>
        <p:spPr>
          <a:xfrm>
            <a:off x="4464612" y="1509864"/>
            <a:ext cx="8531100" cy="12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Module Workflow</a:t>
            </a:r>
            <a:endParaRPr/>
          </a:p>
        </p:txBody>
      </p:sp>
      <p:sp>
        <p:nvSpPr>
          <p:cNvPr id="338" name="Google Shape;338;p17"/>
          <p:cNvSpPr txBox="1"/>
          <p:nvPr/>
        </p:nvSpPr>
        <p:spPr>
          <a:xfrm>
            <a:off x="4350970" y="4188152"/>
            <a:ext cx="9894900" cy="36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and Training Operation Flow: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MRI Image  →  Dataset Loader  →  Preprocessing  →  EfficientNet-B3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  Classification Head  →  Prediction  →  Loss Calculation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  Backpropagation  →  Validation  →  Best Checkpoint Save</a:t>
            </a:r>
            <a:endParaRPr/>
          </a:p>
          <a:p>
            <a:pPr indent="0" lvl="0" marL="0" marR="0" rtl="0" algn="ctr">
              <a:lnSpc>
                <a:spcPct val="154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2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  Test Evaluation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8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4" name="Google Shape;344;p18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5" name="Google Shape;345;p18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6" name="Google Shape;346;p18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7" name="Google Shape;347;p18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48" name="Google Shape;348;p18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349" name="Google Shape;349;p18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18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1" name="Google Shape;351;p18"/>
          <p:cNvSpPr txBox="1"/>
          <p:nvPr/>
        </p:nvSpPr>
        <p:spPr>
          <a:xfrm>
            <a:off x="3703728" y="1538439"/>
            <a:ext cx="85311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49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Implementation and Coding</a:t>
            </a:r>
            <a:endParaRPr/>
          </a:p>
        </p:txBody>
      </p:sp>
      <p:sp>
        <p:nvSpPr>
          <p:cNvPr id="352" name="Google Shape;352;p18"/>
          <p:cNvSpPr txBox="1"/>
          <p:nvPr/>
        </p:nvSpPr>
        <p:spPr>
          <a:xfrm>
            <a:off x="4110832" y="3333933"/>
            <a:ext cx="10066200" cy="22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Directory Structure: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BrainTumor-PE-1/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configs/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datasets_loader/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engine/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evaluation/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inference/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└── losses/</a:t>
            </a:r>
            <a:endParaRPr/>
          </a:p>
        </p:txBody>
      </p:sp>
      <p:grpSp>
        <p:nvGrpSpPr>
          <p:cNvPr id="353" name="Google Shape;353;p18"/>
          <p:cNvGrpSpPr/>
          <p:nvPr/>
        </p:nvGrpSpPr>
        <p:grpSpPr>
          <a:xfrm>
            <a:off x="2629741" y="5422379"/>
            <a:ext cx="13028603" cy="2610957"/>
            <a:chOff x="0" y="-38100"/>
            <a:chExt cx="3431379" cy="687655"/>
          </a:xfrm>
        </p:grpSpPr>
        <p:sp>
          <p:nvSpPr>
            <p:cNvPr id="354" name="Google Shape;354;p18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8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6" name="Google Shape;356;p18"/>
          <p:cNvSpPr txBox="1"/>
          <p:nvPr/>
        </p:nvSpPr>
        <p:spPr>
          <a:xfrm>
            <a:off x="4085368" y="5653521"/>
            <a:ext cx="10066200" cy="19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models/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tests/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utils/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train_classifier.py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requirements.txt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├── environment.yml</a:t>
            </a:r>
            <a:endParaRPr/>
          </a:p>
          <a:p>
            <a:pPr indent="0" lvl="0" marL="0" marR="0" rtl="0" algn="l">
              <a:lnSpc>
                <a:spcPct val="153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└── pyproject.toml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9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2" name="Google Shape;362;p19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3" name="Google Shape;363;p19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4" name="Google Shape;364;p19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5" name="Google Shape;365;p19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66" name="Google Shape;366;p19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367" name="Google Shape;367;p19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9" name="Google Shape;369;p19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Testing</a:t>
            </a:r>
            <a:endParaRPr/>
          </a:p>
        </p:txBody>
      </p:sp>
      <p:sp>
        <p:nvSpPr>
          <p:cNvPr id="370" name="Google Shape;370;p19"/>
          <p:cNvSpPr txBox="1"/>
          <p:nvPr/>
        </p:nvSpPr>
        <p:spPr>
          <a:xfrm>
            <a:off x="4110832" y="3446495"/>
            <a:ext cx="10066336" cy="1470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Unit Testing: Validates individual modules (dataset loader, model, training engine, evaluation) in isolation to ensure each component functions correctly.</a:t>
            </a:r>
            <a:endParaRPr/>
          </a:p>
        </p:txBody>
      </p:sp>
      <p:grpSp>
        <p:nvGrpSpPr>
          <p:cNvPr id="371" name="Google Shape;371;p19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372" name="Google Shape;372;p19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19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4" name="Google Shape;374;p19"/>
          <p:cNvSpPr txBox="1"/>
          <p:nvPr/>
        </p:nvSpPr>
        <p:spPr>
          <a:xfrm>
            <a:off x="4085368" y="6259992"/>
            <a:ext cx="10066336" cy="1470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Smoke Testing: Verifies basic end-to-end functionality of the pipeline. Official Evaluation: Final model assessed on the official 1,000-image test dataset to report accuracy, precision, recall, and F1 scores.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0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0" name="Google Shape;380;p20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1" name="Google Shape;381;p20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2" name="Google Shape;382;p20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3" name="Google Shape;383;p20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84" name="Google Shape;384;p20"/>
          <p:cNvGrpSpPr/>
          <p:nvPr/>
        </p:nvGrpSpPr>
        <p:grpSpPr>
          <a:xfrm>
            <a:off x="2611075" y="3220475"/>
            <a:ext cx="12875515" cy="5496334"/>
            <a:chOff x="0" y="-38100"/>
            <a:chExt cx="3259624" cy="1391477"/>
          </a:xfrm>
        </p:grpSpPr>
        <p:sp>
          <p:nvSpPr>
            <p:cNvPr id="385" name="Google Shape;385;p20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5100" lIns="95100" spcFirstLastPara="1" rIns="95100" wrap="square" tIns="951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561"/>
            </a:p>
          </p:txBody>
        </p:sp>
        <p:sp>
          <p:nvSpPr>
            <p:cNvPr id="386" name="Google Shape;386;p20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2850" lIns="52850" spcFirstLastPara="1" rIns="52850" wrap="square" tIns="528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9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7" name="Google Shape;387;p20"/>
          <p:cNvSpPr txBox="1"/>
          <p:nvPr/>
        </p:nvSpPr>
        <p:spPr>
          <a:xfrm>
            <a:off x="4878428" y="1538439"/>
            <a:ext cx="8531143" cy="12910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51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Real-Time Usage / Practical Application</a:t>
            </a:r>
            <a:endParaRPr/>
          </a:p>
        </p:txBody>
      </p:sp>
      <p:sp>
        <p:nvSpPr>
          <p:cNvPr id="388" name="Google Shape;388;p20"/>
          <p:cNvSpPr txBox="1"/>
          <p:nvPr/>
        </p:nvSpPr>
        <p:spPr>
          <a:xfrm>
            <a:off x="2750470" y="3454027"/>
            <a:ext cx="98949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dk1"/>
                </a:solidFill>
              </a:rPr>
              <a:t>Practical Application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The trained model can be used as a </a:t>
            </a:r>
            <a:r>
              <a:rPr b="1" lang="en-US" sz="1500">
                <a:solidFill>
                  <a:schemeClr val="dk1"/>
                </a:solidFill>
              </a:rPr>
              <a:t>computer-assisted brain MRI classification system</a:t>
            </a:r>
            <a:r>
              <a:rPr lang="en-US" sz="1500">
                <a:solidFill>
                  <a:schemeClr val="dk1"/>
                </a:solidFill>
              </a:rPr>
              <a:t> to automatically classify an MRI image into four categories: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US" sz="1500">
                <a:solidFill>
                  <a:schemeClr val="dk1"/>
                </a:solidFill>
              </a:rPr>
              <a:t>Glioma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US" sz="1500">
                <a:solidFill>
                  <a:schemeClr val="dk1"/>
                </a:solidFill>
              </a:rPr>
              <a:t>Meningioma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US" sz="1500">
                <a:solidFill>
                  <a:schemeClr val="dk1"/>
                </a:solidFill>
              </a:rPr>
              <a:t>No Tumor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US" sz="1500">
                <a:solidFill>
                  <a:schemeClr val="dk1"/>
                </a:solidFill>
              </a:rPr>
              <a:t>Pituitary</a:t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dk1"/>
                </a:solidFill>
              </a:rPr>
              <a:t>Basic Workflow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</a:rPr>
              <a:t>MRI Image → Preprocessing → EfficientNet-B3 Model → Classification Head → Predicted Class</a:t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dk1"/>
                </a:solidFill>
              </a:rPr>
              <a:t>Possible Applications</a:t>
            </a:r>
            <a:endParaRPr b="1" sz="17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Automated preliminary classification of brain MRI images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Assistance in medical image analysis research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Rapid screening support in research environments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Educational demonstrations of AI-based medical image classification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Integration into a future web or desktop-based MRI analysis application</a:t>
            </a:r>
            <a:endParaRPr sz="2194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1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4" name="Google Shape;394;p21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5" name="Google Shape;395;p21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6" name="Google Shape;396;p21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7" name="Google Shape;397;p21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8" name="Google Shape;398;p21"/>
          <p:cNvSpPr txBox="1"/>
          <p:nvPr/>
        </p:nvSpPr>
        <p:spPr>
          <a:xfrm>
            <a:off x="4384519" y="1528914"/>
            <a:ext cx="8531100" cy="11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33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Project Screenshots</a:t>
            </a:r>
            <a:endParaRPr/>
          </a:p>
        </p:txBody>
      </p:sp>
      <p:pic>
        <p:nvPicPr>
          <p:cNvPr id="399" name="Google Shape;399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05863" y="2996602"/>
            <a:ext cx="13888425" cy="5553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23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5" name="Google Shape;405;p23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6" name="Google Shape;406;p23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7" name="Google Shape;407;p23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8" name="Google Shape;408;p23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09" name="Google Shape;409;p23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410" name="Google Shape;410;p23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/>
            </a:p>
          </p:txBody>
        </p:sp>
        <p:sp>
          <p:nvSpPr>
            <p:cNvPr id="411" name="Google Shape;411;p23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2" name="Google Shape;412;p23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Per-Class Results</a:t>
            </a:r>
            <a:endParaRPr/>
          </a:p>
        </p:txBody>
      </p:sp>
      <p:sp>
        <p:nvSpPr>
          <p:cNvPr id="413" name="Google Shape;413;p23"/>
          <p:cNvSpPr txBox="1"/>
          <p:nvPr/>
        </p:nvSpPr>
        <p:spPr>
          <a:xfrm>
            <a:off x="4110907" y="3878008"/>
            <a:ext cx="10066200" cy="10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Glioma:       Precision: 99.21%   Recall: 99.21%   F1: 99.21%</a:t>
            </a:r>
            <a:endParaRPr sz="1100"/>
          </a:p>
          <a:p>
            <a:pPr indent="0" lvl="0" marL="0" marR="0" rtl="0" algn="l">
              <a:lnSpc>
                <a:spcPct val="154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Meningioma:  Precision: 98.03%   Recall: 97.71%   F1: 97.87%</a:t>
            </a:r>
            <a:endParaRPr sz="1100"/>
          </a:p>
        </p:txBody>
      </p:sp>
      <p:grpSp>
        <p:nvGrpSpPr>
          <p:cNvPr id="414" name="Google Shape;414;p23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415" name="Google Shape;415;p23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3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7" name="Google Shape;417;p23"/>
          <p:cNvSpPr txBox="1"/>
          <p:nvPr/>
        </p:nvSpPr>
        <p:spPr>
          <a:xfrm>
            <a:off x="4110893" y="6672005"/>
            <a:ext cx="10066200" cy="10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 Tumor:    Precision: 97.22%   Recall: 100.00%  F1: 98.59%</a:t>
            </a:r>
            <a:endParaRPr sz="1100"/>
          </a:p>
          <a:p>
            <a:pPr indent="0" lvl="0" marL="0" marR="0" rtl="0" algn="l">
              <a:lnSpc>
                <a:spcPct val="154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Pituitary:    Precision: 99.66%   Recall: 98.67%   F1: 99.16%</a:t>
            </a:r>
            <a:endParaRPr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4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3" name="Google Shape;423;p24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4" name="Google Shape;424;p24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5" name="Google Shape;425;p24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6" name="Google Shape;426;p24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27" name="Google Shape;427;p24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428" name="Google Shape;428;p24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24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0" name="Google Shape;430;p24"/>
          <p:cNvSpPr txBox="1"/>
          <p:nvPr/>
        </p:nvSpPr>
        <p:spPr>
          <a:xfrm>
            <a:off x="4878428" y="1528914"/>
            <a:ext cx="8531143" cy="1116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31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Result and Discussion</a:t>
            </a:r>
            <a:endParaRPr/>
          </a:p>
        </p:txBody>
      </p:sp>
      <p:sp>
        <p:nvSpPr>
          <p:cNvPr id="431" name="Google Shape;431;p24"/>
          <p:cNvSpPr txBox="1"/>
          <p:nvPr/>
        </p:nvSpPr>
        <p:spPr>
          <a:xfrm>
            <a:off x="4350957" y="4445027"/>
            <a:ext cx="9894900" cy="31044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EfficientNet-B3 did NOT outperform EfficientNet-B1 in classification performance.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Accuracy decreased from 99.20% (B1) to 98.70% (B3).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Macro F1 score decreased from 99.31% to 98.71%.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Macro Precision decreased from 99.30% to 98.53%.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Macro Recall slightly decreased from 99.32% to 98.90%.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PE1 training time: 72.3 minutes; inference time: 1.63 ms/image.</a:t>
            </a:r>
            <a:endParaRPr/>
          </a:p>
          <a:p>
            <a:pPr indent="0" lvl="0" marL="0" marR="0" rtl="0" algn="ctr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Conclusion: A larger model does not guarantee better classification performance in this scenario.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5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7" name="Google Shape;437;p25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8" name="Google Shape;438;p25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9" name="Google Shape;439;p25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40" name="Google Shape;440;p25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41" name="Google Shape;441;p25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442" name="Google Shape;442;p25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25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4" name="Google Shape;444;p25"/>
          <p:cNvSpPr txBox="1"/>
          <p:nvPr/>
        </p:nvSpPr>
        <p:spPr>
          <a:xfrm>
            <a:off x="4878428" y="1538439"/>
            <a:ext cx="8531143" cy="872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23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Baseline vs Proposed Model</a:t>
            </a:r>
            <a:endParaRPr/>
          </a:p>
        </p:txBody>
      </p:sp>
      <p:sp>
        <p:nvSpPr>
          <p:cNvPr id="445" name="Google Shape;445;p25"/>
          <p:cNvSpPr txBox="1"/>
          <p:nvPr/>
        </p:nvSpPr>
        <p:spPr>
          <a:xfrm>
            <a:off x="3719787" y="4392028"/>
            <a:ext cx="4733662" cy="2955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EfficientNet-B1 (Baseline)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Backbone: EfficientNet-B1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Head: Standard baseline head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Parameters: 6,518,308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Accuracy: 99.20%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Macro F1: 99.31%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Training Time: 144.6 min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Inference: 1.66 ms/image</a:t>
            </a:r>
            <a:endParaRPr/>
          </a:p>
        </p:txBody>
      </p:sp>
      <p:sp>
        <p:nvSpPr>
          <p:cNvPr id="446" name="Google Shape;446;p25"/>
          <p:cNvSpPr txBox="1"/>
          <p:nvPr/>
        </p:nvSpPr>
        <p:spPr>
          <a:xfrm>
            <a:off x="9481874" y="4392028"/>
            <a:ext cx="5395153" cy="2955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PE1 EfficientNet-B3 (Proposed)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Backbone: EfficientNet-B3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Head: Improved (BN + Dropout + GELU)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Parameters: 11,488,300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Accuracy: 98.70%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Macro F1: 98.71%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Training Time: 72.3 min</a:t>
            </a:r>
            <a:endParaRPr/>
          </a:p>
          <a:p>
            <a:pPr indent="0" lvl="0" marL="0" marR="0" rtl="0" algn="just">
              <a:lnSpc>
                <a:spcPct val="154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4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Inference: 1.63 ms/image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6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2" name="Google Shape;452;p26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3" name="Google Shape;453;p26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4" name="Google Shape;454;p26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5" name="Google Shape;455;p26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56" name="Google Shape;456;p26"/>
          <p:cNvGrpSpPr/>
          <p:nvPr/>
        </p:nvGrpSpPr>
        <p:grpSpPr>
          <a:xfrm>
            <a:off x="2629741" y="3049960"/>
            <a:ext cx="13028518" cy="2610940"/>
            <a:chOff x="0" y="-38100"/>
            <a:chExt cx="3431379" cy="687655"/>
          </a:xfrm>
        </p:grpSpPr>
        <p:sp>
          <p:nvSpPr>
            <p:cNvPr id="457" name="Google Shape;457;p26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6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9" name="Google Shape;459;p26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Key Findings</a:t>
            </a:r>
            <a:endParaRPr/>
          </a:p>
        </p:txBody>
      </p:sp>
      <p:sp>
        <p:nvSpPr>
          <p:cNvPr id="460" name="Google Shape;460;p26"/>
          <p:cNvSpPr txBox="1"/>
          <p:nvPr/>
        </p:nvSpPr>
        <p:spPr>
          <a:xfrm>
            <a:off x="4110832" y="3465545"/>
            <a:ext cx="10066336" cy="1766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25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EfficientNet-B1 baseline outperformed EfficientNet-B3 in this experiment, achieving higher Accuracy (99.20% vs 98.70%) and Macro F1 (99.31% vs 98.71%). A larger model with an improved classification head does not guarantee better classification performance on this dataset.</a:t>
            </a:r>
            <a:endParaRPr/>
          </a:p>
        </p:txBody>
      </p:sp>
      <p:grpSp>
        <p:nvGrpSpPr>
          <p:cNvPr id="461" name="Google Shape;461;p26"/>
          <p:cNvGrpSpPr/>
          <p:nvPr/>
        </p:nvGrpSpPr>
        <p:grpSpPr>
          <a:xfrm>
            <a:off x="2629741" y="5916289"/>
            <a:ext cx="13028518" cy="2610940"/>
            <a:chOff x="0" y="-38100"/>
            <a:chExt cx="3431379" cy="687655"/>
          </a:xfrm>
        </p:grpSpPr>
        <p:sp>
          <p:nvSpPr>
            <p:cNvPr id="462" name="Google Shape;462;p26"/>
            <p:cNvSpPr/>
            <p:nvPr/>
          </p:nvSpPr>
          <p:spPr>
            <a:xfrm>
              <a:off x="0" y="0"/>
              <a:ext cx="3431379" cy="649555"/>
            </a:xfrm>
            <a:custGeom>
              <a:rect b="b" l="l" r="r" t="t"/>
              <a:pathLst>
                <a:path extrusionOk="0" h="649555" w="3431379">
                  <a:moveTo>
                    <a:pt x="30306" y="0"/>
                  </a:moveTo>
                  <a:lnTo>
                    <a:pt x="3401074" y="0"/>
                  </a:lnTo>
                  <a:cubicBezTo>
                    <a:pt x="3409111" y="0"/>
                    <a:pt x="3416820" y="3193"/>
                    <a:pt x="3422503" y="8876"/>
                  </a:cubicBezTo>
                  <a:cubicBezTo>
                    <a:pt x="3428186" y="14560"/>
                    <a:pt x="3431379" y="22268"/>
                    <a:pt x="3431379" y="30306"/>
                  </a:cubicBezTo>
                  <a:lnTo>
                    <a:pt x="3431379" y="619249"/>
                  </a:lnTo>
                  <a:cubicBezTo>
                    <a:pt x="3431379" y="627287"/>
                    <a:pt x="3428186" y="634995"/>
                    <a:pt x="3422503" y="640679"/>
                  </a:cubicBezTo>
                  <a:cubicBezTo>
                    <a:pt x="3416820" y="646362"/>
                    <a:pt x="3409111" y="649555"/>
                    <a:pt x="3401074" y="649555"/>
                  </a:cubicBezTo>
                  <a:lnTo>
                    <a:pt x="30306" y="649555"/>
                  </a:lnTo>
                  <a:cubicBezTo>
                    <a:pt x="22268" y="649555"/>
                    <a:pt x="14560" y="646362"/>
                    <a:pt x="8876" y="640679"/>
                  </a:cubicBezTo>
                  <a:cubicBezTo>
                    <a:pt x="3193" y="634995"/>
                    <a:pt x="0" y="627287"/>
                    <a:pt x="0" y="619249"/>
                  </a:cubicBezTo>
                  <a:lnTo>
                    <a:pt x="0" y="30306"/>
                  </a:lnTo>
                  <a:cubicBezTo>
                    <a:pt x="0" y="22268"/>
                    <a:pt x="3193" y="14560"/>
                    <a:pt x="8876" y="8876"/>
                  </a:cubicBezTo>
                  <a:cubicBezTo>
                    <a:pt x="14560" y="3193"/>
                    <a:pt x="22268" y="0"/>
                    <a:pt x="30306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26"/>
            <p:cNvSpPr txBox="1"/>
            <p:nvPr/>
          </p:nvSpPr>
          <p:spPr>
            <a:xfrm>
              <a:off x="0" y="-38100"/>
              <a:ext cx="3431379" cy="68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4" name="Google Shape;464;p26"/>
          <p:cNvSpPr txBox="1"/>
          <p:nvPr/>
        </p:nvSpPr>
        <p:spPr>
          <a:xfrm>
            <a:off x="4085368" y="6279042"/>
            <a:ext cx="10066336" cy="1766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25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EfficientNet-B3 halved training time (72.3 min vs 144.6 min) with comparable inference speed (1.63 ms vs 1.66 ms/image), indicating efficiency gains. Careful model selection is essential — balancing accuracy, parameter complexity, and computational efficiency is critical in medical imaging tasks.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27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0" name="Google Shape;470;p27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1" name="Google Shape;471;p27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2" name="Google Shape;472;p27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3" name="Google Shape;473;p27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74" name="Google Shape;474;p27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475" name="Google Shape;475;p27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27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7" name="Google Shape;477;p27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Limitations</a:t>
            </a:r>
            <a:endParaRPr/>
          </a:p>
        </p:txBody>
      </p:sp>
      <p:sp>
        <p:nvSpPr>
          <p:cNvPr id="478" name="Google Shape;478;p27"/>
          <p:cNvSpPr txBox="1"/>
          <p:nvPr/>
        </p:nvSpPr>
        <p:spPr>
          <a:xfrm>
            <a:off x="3416013" y="4403500"/>
            <a:ext cx="11764800" cy="10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Specific BRISC2025 dataset split only</a:t>
            </a:r>
            <a:r>
              <a:rPr lang="en-US" sz="1500"/>
              <a:t> </a:t>
            </a:r>
            <a:r>
              <a:rPr b="1" i="0" lang="en-US" sz="26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2D MRI images only, not volumetric</a:t>
            </a:r>
            <a:endParaRPr sz="1500"/>
          </a:p>
          <a:p>
            <a:pPr indent="0" lvl="0" marL="0" marR="0" rtl="0" algn="l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No external clinical validation</a:t>
            </a:r>
            <a:r>
              <a:rPr b="1" lang="en-US" sz="2652">
                <a:solidFill>
                  <a:srgbClr val="3C3F42"/>
                </a:solidFill>
              </a:rPr>
              <a:t>.</a:t>
            </a:r>
            <a:endParaRPr sz="1500"/>
          </a:p>
        </p:txBody>
      </p:sp>
      <p:sp>
        <p:nvSpPr>
          <p:cNvPr id="479" name="Google Shape;479;p27"/>
          <p:cNvSpPr txBox="1"/>
          <p:nvPr/>
        </p:nvSpPr>
        <p:spPr>
          <a:xfrm>
            <a:off x="3556112" y="6584700"/>
            <a:ext cx="11484600" cy="9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Higher compute with EfficientNet-B3</a:t>
            </a:r>
            <a:r>
              <a:rPr lang="en-US"/>
              <a:t>. </a:t>
            </a:r>
            <a:r>
              <a:rPr b="1" i="0" lang="en-US" sz="25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Classification only, not segmentation</a:t>
            </a:r>
            <a:endParaRPr/>
          </a:p>
          <a:p>
            <a:pPr indent="0" lvl="0" marL="0" marR="0" rtl="0" algn="l">
              <a:lnSpc>
                <a:spcPct val="153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Further experimentation needed</a:t>
            </a:r>
            <a:r>
              <a:rPr lang="en-US"/>
              <a:t>. </a:t>
            </a:r>
            <a:r>
              <a:rPr b="1" i="0" lang="en-US" sz="2552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Results may not generalise broadly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28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5" name="Google Shape;485;p28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6" name="Google Shape;486;p28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7" name="Google Shape;487;p28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8" name="Google Shape;488;p28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89" name="Google Shape;489;p28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490" name="Google Shape;490;p28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28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92" name="Google Shape;492;p28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Future Scope</a:t>
            </a:r>
            <a:endParaRPr/>
          </a:p>
        </p:txBody>
      </p:sp>
      <p:sp>
        <p:nvSpPr>
          <p:cNvPr id="493" name="Google Shape;493;p28"/>
          <p:cNvSpPr txBox="1"/>
          <p:nvPr/>
        </p:nvSpPr>
        <p:spPr>
          <a:xfrm>
            <a:off x="3679737" y="4782566"/>
            <a:ext cx="4733700" cy="21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Explore other EfficientNet variants</a:t>
            </a:r>
            <a:endParaRPr sz="11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Hyperparameter tuning &amp; optimization</a:t>
            </a:r>
            <a:endParaRPr sz="11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Improved data augmentation</a:t>
            </a:r>
            <a:endParaRPr sz="11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Address class imbalance</a:t>
            </a:r>
            <a:endParaRPr sz="11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Grad-CAM / Explainable AI</a:t>
            </a:r>
            <a:endParaRPr sz="1100"/>
          </a:p>
        </p:txBody>
      </p:sp>
      <p:sp>
        <p:nvSpPr>
          <p:cNvPr id="494" name="Google Shape;494;p28"/>
          <p:cNvSpPr txBox="1"/>
          <p:nvPr/>
        </p:nvSpPr>
        <p:spPr>
          <a:xfrm>
            <a:off x="9495224" y="4727528"/>
            <a:ext cx="5395200" cy="22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Tumor localization &amp; segmentation</a:t>
            </a:r>
            <a:endParaRPr sz="12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Multi-modal MRI input integration</a:t>
            </a:r>
            <a:endParaRPr sz="12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External clinical validation</a:t>
            </a:r>
            <a:endParaRPr sz="12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Web / desktop research deployment</a:t>
            </a:r>
            <a:endParaRPr sz="1200"/>
          </a:p>
          <a:p>
            <a:pPr indent="0" lvl="0" marL="0" marR="0" rtl="0" algn="l">
              <a:lnSpc>
                <a:spcPct val="154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59" u="none" cap="none" strike="noStrike">
                <a:solidFill>
                  <a:srgbClr val="3C3F42"/>
                </a:solidFill>
                <a:latin typeface="Arial"/>
                <a:ea typeface="Arial"/>
                <a:cs typeface="Arial"/>
                <a:sym typeface="Arial"/>
              </a:rPr>
              <a:t>Larger &amp; diverse datasets</a:t>
            </a:r>
            <a:endParaRPr sz="12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29"/>
          <p:cNvSpPr/>
          <p:nvPr/>
        </p:nvSpPr>
        <p:spPr>
          <a:xfrm rot="-5400000">
            <a:off x="4557186" y="-5988665"/>
            <a:ext cx="11718479" cy="20832852"/>
          </a:xfrm>
          <a:custGeom>
            <a:rect b="b" l="l" r="r" t="t"/>
            <a:pathLst>
              <a:path extrusionOk="0" h="20832852" w="11718479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0" name="Google Shape;500;p29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1" name="Google Shape;501;p29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2" name="Google Shape;502;p29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3" name="Google Shape;503;p29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504" name="Google Shape;504;p29"/>
          <p:cNvGrpSpPr/>
          <p:nvPr/>
        </p:nvGrpSpPr>
        <p:grpSpPr>
          <a:xfrm>
            <a:off x="3110214" y="3220480"/>
            <a:ext cx="12376386" cy="5283266"/>
            <a:chOff x="0" y="-38100"/>
            <a:chExt cx="3259624" cy="1391477"/>
          </a:xfrm>
        </p:grpSpPr>
        <p:sp>
          <p:nvSpPr>
            <p:cNvPr id="505" name="Google Shape;505;p29"/>
            <p:cNvSpPr/>
            <p:nvPr/>
          </p:nvSpPr>
          <p:spPr>
            <a:xfrm>
              <a:off x="0" y="0"/>
              <a:ext cx="3259624" cy="1353377"/>
            </a:xfrm>
            <a:custGeom>
              <a:rect b="b" l="l" r="r" t="t"/>
              <a:pathLst>
                <a:path extrusionOk="0" h="1353377" w="3259624">
                  <a:moveTo>
                    <a:pt x="31903" y="0"/>
                  </a:moveTo>
                  <a:lnTo>
                    <a:pt x="3227722" y="0"/>
                  </a:lnTo>
                  <a:cubicBezTo>
                    <a:pt x="3236183" y="0"/>
                    <a:pt x="3244297" y="3361"/>
                    <a:pt x="3250280" y="9344"/>
                  </a:cubicBezTo>
                  <a:cubicBezTo>
                    <a:pt x="3256263" y="15327"/>
                    <a:pt x="3259624" y="23441"/>
                    <a:pt x="3259624" y="31903"/>
                  </a:cubicBezTo>
                  <a:lnTo>
                    <a:pt x="3259624" y="1321475"/>
                  </a:lnTo>
                  <a:cubicBezTo>
                    <a:pt x="3259624" y="1329936"/>
                    <a:pt x="3256263" y="1338051"/>
                    <a:pt x="3250280" y="1344033"/>
                  </a:cubicBezTo>
                  <a:cubicBezTo>
                    <a:pt x="3244297" y="1350016"/>
                    <a:pt x="3236183" y="1353377"/>
                    <a:pt x="3227722" y="1353377"/>
                  </a:cubicBezTo>
                  <a:lnTo>
                    <a:pt x="31903" y="1353377"/>
                  </a:lnTo>
                  <a:cubicBezTo>
                    <a:pt x="23441" y="1353377"/>
                    <a:pt x="15327" y="1350016"/>
                    <a:pt x="9344" y="1344033"/>
                  </a:cubicBezTo>
                  <a:cubicBezTo>
                    <a:pt x="3361" y="1338051"/>
                    <a:pt x="0" y="1329936"/>
                    <a:pt x="0" y="1321475"/>
                  </a:cubicBezTo>
                  <a:lnTo>
                    <a:pt x="0" y="31903"/>
                  </a:lnTo>
                  <a:cubicBezTo>
                    <a:pt x="0" y="23441"/>
                    <a:pt x="3361" y="15327"/>
                    <a:pt x="9344" y="9344"/>
                  </a:cubicBezTo>
                  <a:cubicBezTo>
                    <a:pt x="15327" y="3361"/>
                    <a:pt x="23441" y="0"/>
                    <a:pt x="31903" y="0"/>
                  </a:cubicBezTo>
                  <a:close/>
                </a:path>
              </a:pathLst>
            </a:custGeom>
            <a:solidFill>
              <a:srgbClr val="DBE0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29"/>
            <p:cNvSpPr txBox="1"/>
            <p:nvPr/>
          </p:nvSpPr>
          <p:spPr>
            <a:xfrm>
              <a:off x="0" y="-38100"/>
              <a:ext cx="3259624" cy="13914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7" name="Google Shape;507;p29"/>
          <p:cNvSpPr txBox="1"/>
          <p:nvPr/>
        </p:nvSpPr>
        <p:spPr>
          <a:xfrm>
            <a:off x="4878428" y="1509864"/>
            <a:ext cx="8531143" cy="128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994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Conclusion</a:t>
            </a:r>
            <a:endParaRPr/>
          </a:p>
        </p:txBody>
      </p:sp>
      <p:sp>
        <p:nvSpPr>
          <p:cNvPr id="508" name="Google Shape;508;p29"/>
          <p:cNvSpPr txBox="1"/>
          <p:nvPr/>
        </p:nvSpPr>
        <p:spPr>
          <a:xfrm>
            <a:off x="4350970" y="4328865"/>
            <a:ext cx="9894900" cy="3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7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PE1 EfficientNet-B3 achieved 98.70% Accuracy and 98.71% Macro F1 on the BRISC2025 test set.</a:t>
            </a:r>
            <a:endParaRPr/>
          </a:p>
          <a:p>
            <a:pPr indent="0" lvl="0" marL="0" marR="0" rtl="0" algn="ctr">
              <a:lnSpc>
                <a:spcPct val="154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7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Baseline EfficientNet-B1 achieved 99.20% Accuracy and 99.31% Macro F1 under identical conditions.</a:t>
            </a:r>
            <a:endParaRPr/>
          </a:p>
          <a:p>
            <a:pPr indent="0" lvl="0" marL="0" marR="0" rtl="0" algn="ctr">
              <a:lnSpc>
                <a:spcPct val="154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7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EfficientNet-B3 did not improve classification performance over EfficientNet-B1 in this experiment.</a:t>
            </a:r>
            <a:endParaRPr/>
          </a:p>
          <a:p>
            <a:pPr indent="0" lvl="0" marL="0" marR="0" rtl="0" algn="ctr">
              <a:lnSpc>
                <a:spcPct val="154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7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Larger model size (11.49M vs 6.52M parameters) did not guarantee better accuracy in this scenario.</a:t>
            </a:r>
            <a:endParaRPr/>
          </a:p>
          <a:p>
            <a:pPr indent="0" lvl="0" marL="0" marR="0" rtl="0" algn="ctr">
              <a:lnSpc>
                <a:spcPct val="154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7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Training time was halved with EfficientNet-B3 (72.3 min vs 144.6 min), indicating efficiency gains.</a:t>
            </a:r>
            <a:endParaRPr/>
          </a:p>
          <a:p>
            <a:pPr indent="0" lvl="0" marL="0" marR="0" rtl="0" algn="ctr">
              <a:lnSpc>
                <a:spcPct val="154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7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Careful architecture selection is essential in medical imaging classification tasks.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30"/>
          <p:cNvSpPr/>
          <p:nvPr/>
        </p:nvSpPr>
        <p:spPr>
          <a:xfrm rot="-5400000">
            <a:off x="4000500" y="-4000500"/>
            <a:ext cx="10287000" cy="18288000"/>
          </a:xfrm>
          <a:custGeom>
            <a:rect b="b" l="l" r="r" t="t"/>
            <a:pathLst>
              <a:path extrusionOk="0" h="18288000" w="10287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4" name="Google Shape;514;p30"/>
          <p:cNvSpPr/>
          <p:nvPr/>
        </p:nvSpPr>
        <p:spPr>
          <a:xfrm flipH="1" rot="10800000">
            <a:off x="519025" y="396902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5" name="Google Shape;515;p30"/>
          <p:cNvSpPr/>
          <p:nvPr/>
        </p:nvSpPr>
        <p:spPr>
          <a:xfrm flipH="1">
            <a:off x="15486600" y="7366014"/>
            <a:ext cx="2359274" cy="2359274"/>
          </a:xfrm>
          <a:custGeom>
            <a:rect b="b" l="l" r="r" t="t"/>
            <a:pathLst>
              <a:path extrusionOk="0" h="2359274" w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6" name="Google Shape;516;p30"/>
          <p:cNvSpPr/>
          <p:nvPr/>
        </p:nvSpPr>
        <p:spPr>
          <a:xfrm>
            <a:off x="15486600" y="396902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7" name="Google Shape;517;p30"/>
          <p:cNvSpPr txBox="1"/>
          <p:nvPr/>
        </p:nvSpPr>
        <p:spPr>
          <a:xfrm>
            <a:off x="2453953" y="3755397"/>
            <a:ext cx="7691481" cy="9641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137" u="none" cap="none" strike="noStrike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Thank You</a:t>
            </a:r>
            <a:endParaRPr/>
          </a:p>
        </p:txBody>
      </p:sp>
      <p:sp>
        <p:nvSpPr>
          <p:cNvPr id="518" name="Google Shape;518;p30"/>
          <p:cNvSpPr/>
          <p:nvPr/>
        </p:nvSpPr>
        <p:spPr>
          <a:xfrm>
            <a:off x="57095" y="7366014"/>
            <a:ext cx="2693378" cy="2693378"/>
          </a:xfrm>
          <a:custGeom>
            <a:rect b="b" l="l" r="r" t="t"/>
            <a:pathLst>
              <a:path extrusionOk="0" h="2693378" w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24000"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